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579FA3-B980-48AE-B79B-CB4F476AE9C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BBDAE0-7D55-45BC-9AFD-A3E8074F4A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0F58EA-DEDC-48F7-BC71-3E20B210AE6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80CDC1-7BE1-492F-9A4A-B1DE56BA76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3EA10F-0BA8-4EB9-A16A-2D347162BFF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B61067-6878-425A-B08B-D99243064B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8428D4-AEDF-44B6-AB80-5A5046A45CA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2A3E8D-3EA8-4A8A-9D07-74875F9A17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F000ED-9324-497D-9CF0-02FFD3B0094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625270-3AD1-45EF-90CF-0BD61BEB03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8B4642-4031-420F-B7C1-BE8659CB1B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457200" y="22860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🔮 ORACLE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457200" y="3840480"/>
            <a:ext cx="8229240" cy="26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Orchestrated Retrieval and Conversational Logic Engine</a:t>
            </a:r>
            <a:br>
              <a:rPr sz="2800"/>
            </a:br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A Multi-Agent RAG System with Human-In-The-Loop Validation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                                      </a:t>
            </a:r>
            <a:r>
              <a:rPr b="0" lang="en-US" sz="2800" strike="noStrike" u="none">
                <a:solidFill>
                  <a:srgbClr val="bbe33d"/>
                </a:solidFill>
                <a:effectLst/>
                <a:uFillTx/>
                <a:latin typeface="Calibri"/>
              </a:rPr>
              <a:t>Presented By : Sayan Chakrabarti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2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ORACLE – Application Landing Page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51920" y="1371600"/>
            <a:ext cx="8953200" cy="524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System Overview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🎯 Purpose: Blend structured (SQL) + unstructured (vector/web) data retrieval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🤖 5 Specialized Agents working in orchestrated harmony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📊 RAG Pattern: Employee database + Live weather/news + Vector embeddings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🛡️ Safety-first: Dual guardrails (security + groundedness)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👥 HITL: Human review when AI confidence drops below threshold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The 5-Agent Architecture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457200" y="16459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764ba2"/>
                </a:solidFill>
                <a:effectLst/>
                <a:uFillTx/>
                <a:latin typeface="Calibri"/>
              </a:rPr>
              <a:t>Specialist Agents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457200" y="2103120"/>
            <a:ext cx="384012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🌤️ HERALD: Live weather &amp; news via Tavily API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👤 ARCHIVIST: SQL employee queries + semantic location mapping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✅ VALIDATOR: Groundedness critic (GPT-4o, independent perspective)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🛡️ SENTINEL: Security guardrail (prompt injection, PII detection)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4846320" y="16459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764ba2"/>
                </a:solidFill>
                <a:effectLst/>
                <a:uFillTx/>
                <a:latin typeface="Calibri"/>
              </a:rPr>
              <a:t>Orchestration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4846320" y="2103120"/>
            <a:ext cx="384012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🎭 CONDUCTOR: Triage + composition brain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• Routes intent to specialists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• Calls tools for blended queries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• Composes final answer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• Compiles sources for HITL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Data Architecture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🗄️ SQLite + aiosqlite: 500 employee records (Raghav Sharma @ EMP-0042, Austin TX)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🔍 ChromaDB: Two collections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• live_context: Weather/news embeddings from Tavily (ephemeral)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• employee_locations: 500 embedded office locations (persistent)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🌐 Tavily API: Real-time weather &amp; news for any location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📡 Semantic Bridge: Cosine similarity &lt;0.30 matches weather location to employees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Canonical Request Flow: 'What is the weather where Raghav works?'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1️⃣ SENTINEL input guardrail checks for prompt injection/PII extraction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2️⃣ CONDUCTOR detects blended query intent (employee + weather)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3️⃣ ARCHIVIST tool finds Raghav → Austin, TX, Engineering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4️⃣ HERALD tool fetches Austin weather from Tavily → embeds into live_context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5️⃣ Semantic match: Austin weather ↔ employee_locations via Chroma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6️⃣ CONDUCTOR composes: 'Raghav works in Austin. Weather: 94°F, Partly Cloudy.'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7️⃣ VALIDATOR critic verifies all claims against sources → score 0.97 (pass)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8️⃣ SENTINEL output guardrail checks for PII leak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9️⃣ Answer + sources delivered to UI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Human-In-The-Loop (HITL) Flow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🎯 Trigger: Groundedness score &lt; 0.70 OR sensitive PII combination detected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📋 Panel shows: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• Draft answer with ungrounded claims highlighted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• Groundedness bar (🟢 pass / 🟡 warn / 🔴 fail)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• Editable text box for human refinement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👥 Human chooses: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✅ Approve: Publish as-is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✏️ Edit &amp; Approve: Publish human-edited version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🔄 Regenerate: Re-run with error feedback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Technology Stack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7200" y="16459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764ba2"/>
                </a:solidFill>
                <a:effectLst/>
                <a:uFillTx/>
                <a:latin typeface="Calibri"/>
              </a:rPr>
              <a:t>Core Dependencies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457200" y="2103120"/>
            <a:ext cx="384012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🤖 OpenAI Agents SDK (orchestration)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🧠 Claude Sonnet 4.5 (primary model)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🔀 GPT-4o (validation/guardrails)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🎨 Streamlit (frontend)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🔍 ChromaDB (vector store)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💾 SQLAlchemy + aiosqlite (ORM)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4846320" y="16459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764ba2"/>
                </a:solidFill>
                <a:effectLst/>
                <a:uFillTx/>
                <a:latin typeface="Calibri"/>
              </a:rPr>
              <a:t>APIs &amp; Services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4846320" y="2103120"/>
            <a:ext cx="384012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🌐 Tavily API (weather/news)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🔑 OpenAI Embeddings (text-embedding-3-small)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⚙️ OpenAI API (GPT-4o)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🧭 Anthropic API (Claude)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📝 Python 3.14 (async/await)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4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🔐 Environment variables (.env)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Safety Architecture: Dual Guardrails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🛡️ SENTINEL (GPT-4o-mini, fast &amp; cheap):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INPUT: Detects prompt injection, off-topic, PII extraction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OUTPUT: Detects PII leaks, bulk data exports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✅ VALIDATOR (GPT-4o, independent model):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Verifies every factual claim against retrieved 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Score calculation: grounded_claims / total_claims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Thresholds: ≥0.85 pass | 0.70-0.85 warn | &lt;0.70 HITL trigger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🔒 Both run in parallel (fast) + post-generation (accurate)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Streamlit Frontend Features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💬 Chat Interface: Demo query buttons + message input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📊 Left Sidebar: Session metrics, groundedness bar, source explorer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🎨 Custom CSS: Gradient purple theme, responsive cards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❗ HITL Panel: Auto-appears on low groundedness with approve/edit/regenerate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🏷️ Badges: Confidence levels, query type, source type indicators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💡 Follow-up Suggestions: 2-3 related queries recommended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📝 Session Persistence: Conversation history saved to SQLite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Test Coverage (18/18 Passing)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🧪 test_tools.py: Unit tests for all 6 function tools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• Embedding, Chroma, SQL, Tavily, Security, Validation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🛡️ test_guardrails.py: Guardrail tripwire behavior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• SENTINEL blocks injection, VALIDATOR triggers HITL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🔀 test_blended_query.py: Canonical acceptance test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• 'What is the weather where Raghav works?'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• Tests full orchestration, HITL, state management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✅ All critical paths covered. Ready for production.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How to Run ORACLE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📋 Prerequisites: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ANTHROPIC_API_KEY, OPENAI_API_KEY, TAVILY_API_KEY in oracle/.env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🌱 Seed Database (run once):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PROTOCOL_BUFFERS_PYTHON_IMPLEMENTATION=python python -m oracle.seed_db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🚀 Launch Application: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    PROTOCOL_BUFFERS_PYTHON_IMPLEMENTATION=python python -m streamlit run oracle/app.py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🌐 Access at http://localhost:8501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Key Architectural Concepts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✨ Agent Duality: Agents work as FULL agents (via handoff) OR inline TOOLS (via as_tool())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🔗 Semantic Bridge: Chroma similarity search connects weather ↔ employees across modalities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🎯 Input Filtering: Conversation history scrubbed per agent (HERALD strips employee turns, etc.)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🏆 Parallel Execution: Input guardrail runs in parallel with agent startup (low latency)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💾 Session State: Pydantic context object persists across turns + survives SQLite restarts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🎨 Cascade Safety: 3-layer validation (input guard → validator → output guard)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Development Insights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🐍 Python 3.14: Requires PROTOCOL_BUFFERS_PYTHON_IMPLEMENTATION=python workaround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🔧 function_tool: No __wrapped__ attribute; define raw _fn + wrap separately for testing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📦 Lazy Imports: oracle/agents/__init__.py uses __getattr__ to avoid circular imports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🎯 Strict Schema: dict[str, Any] params need strict_mode=False to pass SDK validation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🚀 Optimization: Lazy-load engine in Streamlit callbacks to avoid startup blocking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Phase 2: MCP Extension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731520" y="1645920"/>
            <a:ext cx="76806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🌐 MCP Server: Expose ORACLE tools as MCP resources for any LLM client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🔌 Tool Wrapping: Convert function_tools → MCP resources (zero architectural change)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🧠 Multi-Model: MCP allows Claude, GPT, open-source models to call ORACLE tools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📡 Distributed: Run agents in separate MCP server instances if needed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800" strike="noStrike" u="none">
                <a:solidFill>
                  <a:srgbClr val="1e1b4b"/>
                </a:solidFill>
                <a:effectLst/>
                <a:uFillTx/>
                <a:latin typeface="Calibri"/>
              </a:rPr>
              <a:t>⚡ Performance: Caching + vectorization for 10k+ employee datasets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457200" y="22860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Questions?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57200" y="384048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ORACLE: Where Retrieval Meets Orchestration</a:t>
            </a:r>
            <a:br>
              <a:rPr sz="2800"/>
            </a:br>
            <a:r>
              <a:rPr b="0" lang="en-US" sz="2800" strike="noStrike" u="none">
                <a:solidFill>
                  <a:srgbClr val="94a3b8"/>
                </a:solidFill>
                <a:effectLst/>
                <a:uFillTx/>
                <a:latin typeface="Calibri"/>
              </a:rPr>
              <a:t>18/18 Tests Passing • Production Ready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2026-06-17T17:20:19Z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