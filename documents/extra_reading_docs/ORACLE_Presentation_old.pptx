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8900000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3F4F6"/>
                </a:solidFill>
              </a:defRPr>
            </a:pPr>
            <a:r>
              <a:t>🔮 ORACLE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D2FA"/>
                </a:solidFill>
              </a:defRPr>
            </a:pPr>
            <a:r>
              <a:t>Orchestrated Retrieval and Conversational Logic Engine</a:t>
            </a:r>
            <a:br/>
            <a:r>
              <a:t>A RAG-based Multi-Agent Conversational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📊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Advanced RAG-based conversational engine fusing structured + unstructured data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SQL queries (employee data) + Vector search + Live web data (Tavily API)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Multi-agent orchestration with specialized roles and handoff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Zero hallucination posture: validator agents verify ALL claims against sources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Human-in-the-loop review for low-confidence answers (&lt; 70% groundedness)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Production-ready with comprehensive error handling and audit trails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🎯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Enterprise knowledge is fragmented across multiple data sources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Employee databases (structured)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Real-time news &amp; weather (unstructured APIs)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Traditional RAG systems suffer from hallucination and lack source grounding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No unified interface for blended queries combining employee + contextual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Need for automated validation before any user-facing answer is delivered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Human review required for edge cases and sensitive information combinations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🏗️ Solution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🔄 Query Pipeline 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77440" y="1737360"/>
            <a:ext cx="137160" cy="0"/>
          </a:xfrm>
          <a:prstGeom prst="line">
            <a:avLst/>
          </a:prstGeom>
          <a:ln w="254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31520" y="1371600"/>
            <a:ext cx="1645920" cy="731520"/>
          </a:xfrm>
          <a:prstGeom prst="rect">
            <a:avLst/>
          </a:prstGeom>
          <a:solidFill>
            <a:srgbClr val="667EEA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User Query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0" y="1737360"/>
            <a:ext cx="137160" cy="0"/>
          </a:xfrm>
          <a:prstGeom prst="line">
            <a:avLst/>
          </a:prstGeom>
          <a:ln w="254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651760" y="1371600"/>
            <a:ext cx="1645920" cy="731520"/>
          </a:xfrm>
          <a:prstGeom prst="rect">
            <a:avLst/>
          </a:prstGeom>
          <a:solidFill>
            <a:srgbClr val="667EEA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Conductor</a:t>
            </a:r>
            <a:br/>
            <a:r>
              <a:t>(Triage)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17920" y="1737360"/>
            <a:ext cx="137159" cy="0"/>
          </a:xfrm>
          <a:prstGeom prst="line">
            <a:avLst/>
          </a:prstGeom>
          <a:ln w="254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0" y="1371600"/>
            <a:ext cx="1645920" cy="731520"/>
          </a:xfrm>
          <a:prstGeom prst="rect">
            <a:avLst/>
          </a:prstGeom>
          <a:solidFill>
            <a:srgbClr val="667EEA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Specialist</a:t>
            </a:r>
            <a:br/>
            <a:r>
              <a:t>Agents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38160" y="1737360"/>
            <a:ext cx="137160" cy="0"/>
          </a:xfrm>
          <a:prstGeom prst="line">
            <a:avLst/>
          </a:prstGeom>
          <a:ln w="254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492240" y="1371600"/>
            <a:ext cx="1645920" cy="731520"/>
          </a:xfrm>
          <a:prstGeom prst="rect">
            <a:avLst/>
          </a:prstGeom>
          <a:solidFill>
            <a:srgbClr val="667EEA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Blended</a:t>
            </a:r>
            <a:br/>
            <a:r>
              <a:t>Composition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8400" y="1737360"/>
            <a:ext cx="137160" cy="0"/>
          </a:xfrm>
          <a:prstGeom prst="line">
            <a:avLst/>
          </a:prstGeom>
          <a:ln w="254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412480" y="1371600"/>
            <a:ext cx="1645920" cy="731520"/>
          </a:xfrm>
          <a:prstGeom prst="rect">
            <a:avLst/>
          </a:prstGeom>
          <a:solidFill>
            <a:srgbClr val="667EEA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Validation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978640" y="1737360"/>
            <a:ext cx="137160" cy="0"/>
          </a:xfrm>
          <a:prstGeom prst="line">
            <a:avLst/>
          </a:prstGeom>
          <a:ln w="254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32720" y="1371600"/>
            <a:ext cx="1645920" cy="731520"/>
          </a:xfrm>
          <a:prstGeom prst="rect">
            <a:avLst/>
          </a:prstGeom>
          <a:solidFill>
            <a:srgbClr val="667EEA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HITL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252960" y="1371600"/>
            <a:ext cx="1645920" cy="731520"/>
          </a:xfrm>
          <a:prstGeom prst="rect">
            <a:avLst/>
          </a:prstGeom>
          <a:solidFill>
            <a:srgbClr val="667EEA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Final Answer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🤖 Multi-Agent System (5 Agents)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7EEA"/>
                </a:solidFill>
              </a:defRPr>
            </a:pPr>
            <a:r>
              <a:t>ORACLE Conductor (Triage &amp; Composition)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Routes queries, calls specialist tools, composes blended answers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7EEA"/>
                </a:solidFill>
              </a:defRPr>
            </a:pPr>
            <a:r>
              <a:t>HERALD (Live News &amp; Weather Specialist)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Fetches from Tavily API, stores in Chroma, performs similarity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7EEA"/>
                </a:solidFill>
              </a:defRPr>
            </a:pPr>
            <a:r>
              <a:t>ARCHIVIST (SQL &amp; Employee Knowledge Specialist)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Queries SQLAlchemy database, semantic location mapping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7EEA"/>
                </a:solidFill>
              </a:defRPr>
            </a:pPr>
            <a:r>
              <a:t>VALIDATOR (Groundedness Critic)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Verifies factual claims, enforces zero hallucination via output guardrail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7EEA"/>
                </a:solidFill>
              </a:defRPr>
            </a:pPr>
            <a:r>
              <a:t>SENTINEL (Security &amp; Input/Output Guard)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Prompt injection detection, PII protection, off-topic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🎭 Manager Pattern: ORACLE Conductor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Central orchestration agent that processes all user queries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Implements intelligent triage routing: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Pure weather/news query → full handoff to HERALD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Pure employee query → full handoff to ARCHIVIST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Blended query → calls both specialists as parallel tools &amp; composes answer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Handles PII-sensitive combinations requiring human 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Primary model: Claude Sonnet 4-5 (with GPT-4o fallback)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Attached guardrails: SENTINEL + VALIDATOR (mandatory security &amp; groundedness)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🛠️ Technology Stack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📦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LLM &amp; Orchestration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Claude Sonnet 4-5 (primary)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GPT-4o (fallback)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OpenAI Agents SDK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Vector Store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ChromaDB (similarity search)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text-embedding-3-small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Frontend &amp;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Database &amp; Storage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SQLAlchemy (ORM)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SQLite + aiosqlite (async)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Redis (Phase 2)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APIs &amp; Frontend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Tavily (news + weather)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Streamlit (chat UI)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914400"/>
            <a:ext cx="45720" cy="50292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📋 Agent Roster Details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📊 Agent Roster &amp; Configuration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3F4F6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3F4F6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3F4F6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3F4F6"/>
                          </a:solidFill>
                        </a:defRPr>
                      </a:pPr>
                      <a:r>
                        <a:t>Guardrails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3F4F6"/>
                          </a:solidFill>
                        </a:defRPr>
                      </a:pPr>
                      <a:r>
                        <a:t>SDK Features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Conductor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Triage &amp; Composer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Claude-Sonnet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SENTINEL + VALIDATOR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Handoffs +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HERALD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Weather/News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Claude-Sonnet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Full Agent + as_tool()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ARCHIVIST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Employee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Claude-Sonnet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Full Agent + as_tool()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VALIDATOR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Groundedness Check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GPT-4o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Output Guardrail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Claims verification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SENTINEL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Security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GPT-4o-mini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Input +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PII + Injection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🔗 Semantic Join: Cross-Source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Bridges employee database + live weather data without SQL JOIN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HERALD fetches weather for location (e.g., "Austin, TX")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Weather location embedded into vector space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Queries ARCHIVIST's Chroma collection "employee_locations"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Employee records matched by cosine similarity (distance &lt; 0.30)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Result: "Raghav Sharma works in Austin, TX. Weather there is 94°F, partly cloudy"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Enables blended queries without explicit correlation schema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Core architectural insight: embeddings solve impedance mismatch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🎯 Zero Hallucination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VALIDATOR agent is MANDATORY output guardrail (never disabled)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Process: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Extract all factual claims from Conductor's answer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Verify each claim against returned source chunks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Score: % of grounded claims (0.0 - 1.0)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Thresholds: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Score ≥ 0.85: PASS → answer delivered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Score 0.70-0.85: WARN → answer + warning logged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Score &lt; 0.70: FAIL → Human-in-the-loop activation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If claim not in sources: explicitly state "data not available"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👥 Human-In-The-Loop (HITL)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Triggered when validator score &lt; 0.70 OR conductor flags PII sensitivity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HITL Panel shows: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Draft answer + groundedness score + ungrounded claims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Human choices: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✅ Approve → answer published as-is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✏️ Edit &amp; Approve → human-corrected version published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🔄 Regenerate → query re-run with rejection context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All actions logged for audit trail &amp;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Review time and human decisions tracked in session context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🪝 HITL Hooks &amp;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Three-tier hook system: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Agent-level: on_start, on_end (agent lifecycle)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Run-level: on_agent_end with HITL detection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HITL-specialized: on_hitl_triggered, on_hitl_approved, on_hitl_rejected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Callbacks fire at each decision point: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[HITL TRIGGERED] → human review panel activated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[HITL APPROVED] or [HITL APPROVED (EDITED)] → answer published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[HITL REJECTED] → query re-run with new context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Review metrics captured: duration, action, groundedness score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✔️ Groundedness Validation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Two-phase validation: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Phase 1: GPT-4o extracts factual claims from answer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Phase 2: Match each claim against source document chunks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Scoring: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Grounded: claim explicitly supported by source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Ungrounded: claim not found in any source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Unknown: claim verifiable but sources incomplete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Source types tracked: SQL rows, Chroma vectors, Tavily URLs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Model mismatch (GPT-4o vs Claude): avoids confirmation bias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📐 Data Models &amp; Schema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📊 Data Models &amp; Schema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3F4F6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3F4F6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3F4F6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OracleSessionContext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Pydantic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session_id, user_id, conversation_history, HITL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ConductorResponse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Pydantic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answer, sources, confidence, query_type, hitl_required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EmployeeRecord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Pydantic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employee_id, name, department, office_location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GroundednessReport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Pydantic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score, claim_verifications, ungrounded_claims, verdict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Employees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500 rows, 10 cities, 8 departments (Raghav @ row 42, Austin TX)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Chroma Collections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Vector DB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live_context (weather/news), employee_locations (embeddings)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📋 Handoff Contracts &amp;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7EEA"/>
                </a:solidFill>
              </a:defRPr>
            </a:pPr>
            <a:r>
              <a:t>Escalate to HERALD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Trigger: Pure weather/news query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Input type: HeraldHandoffInput (query + location_hint)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7EEA"/>
                </a:solidFill>
              </a:defRPr>
            </a:pPr>
            <a:r>
              <a:t>Escalate to ARCHIVIST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Trigger: Pure employee/HR query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Input type: ArchivistHandoffInput (query + employee_hint + location_hint)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7EEA"/>
                </a:solidFill>
              </a:defRPr>
            </a:pPr>
            <a:r>
              <a:t>Parallel Tool Calls (Blended Queries)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herald_as_tool("fetch_live_context") + archivist_as_tool("lookup_employee_data")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Both execute simultaneously within same Conductor turn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🔨 Development Workflow &amp; Implementation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Phase 1A: Foundation (settings, DB, embeddings, Chroma)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Phase 1B: Tools (SQL, Tavily, security, validation tools)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Phase 1C: Agents (bottom-up: SENTINEL → VALIDATOR → specialists → Conductor)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Phase 1D: Engine + UI (oracle_engine.py wrapper, Streamlit frontend)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Phase 1E: Testing (unit, integration, E2E, acceptance test)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Phase 2: MCP Extension (expose tools as MCP resources)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Critical Path: Each phase built on previous layer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🧪 Validation &amp; 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Canonical Demo Query: "What is the weather like where Raghav works?"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Expected flow: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SQL lookup → Raghav Sharma, Austin TX, Engineering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Tavily fetch → Austin weather data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Semantic match → EMP-0042 ↔ Austin location (distance &lt; 0.30)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Composition → blended answer with sources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Validation → all claims verified (score: 0.97)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SECURITY ✓ | GROUNDEDNESS ✓ | DELIVERY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Test coverage: unit, integration, E2E, guardrails, edge cases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📡 API &amp; Session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Engine.run(user_query, ctx) → returns dict with: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answer, response, error, hitl_triggered, security_blocked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groundedness_score, hitl_metadata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Session Persistence: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Phase 1: SQLite session_memory table (cross-session in same user)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Phase 2: Redis drop-in replacement (TTL: 24h)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Conversation history captured in OracleSessionContext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HITL decisions logged for audit trail &amp; analytics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🛡️ Error Handling &amp;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InputGuardrailTripwireTriggered → friendly rejection message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OutputGuardrailTripwireTriggered → HITL activation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MaxTurnsExceeded → graceful degradation message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TavilyAPIError → retry 3x via tenacity, fallback to cached Chroma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SQLAlchemyError → log + return "data unavailable" message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ChromaException → log + SQL-only fallback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AnthropicAPIError → fallback to GPT-4o via RunConfig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All errors logged with context for debugging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✨ Key Features &amp;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Semantic Cross-Source Intelligence: embeddings bridge SQL ↔ APIs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Agent-as-Tool Transformation: HERALD &amp; ARCHIVIST work as full agents OR inline tools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Zero Hallucination Enforcement: MANDATORY validator guardrail on all outputs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Human-In-The-Loop with Audit Trail: track all review decisions &amp; timings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Multi-Model Strategy: Claude primary, GPT-4o for validation (avoids bias)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Comprehensive Observability: hooks at agent/run/HITL levels with detailed logging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1B4B"/>
                </a:solidFill>
              </a:defRPr>
            </a:pPr>
            <a:r>
              <a:t>Production-Ready: error handling, graceful degradation, session persistence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🚀 Deployment &amp; Operations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🚀 Deployment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Environment Setup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Docker container support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Redis for distributed sessions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SQLite for local dev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Configuration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.env file w/ API keys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Adjustable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Monitoring &amp; Analytics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Detailed structured logs (JSONL)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HITL review metrics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Agent execution timing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Scaling Considerations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Max 15 turns per query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E1B4B"/>
                </a:solidFill>
              </a:defRPr>
            </a:pPr>
            <a:r>
              <a:t>• Session TTL: 24h (configurable)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914400"/>
            <a:ext cx="45720" cy="50292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3F4F6"/>
                </a:solidFill>
              </a:defRPr>
            </a:pPr>
            <a:r>
              <a:t>📈 Phase 2 Roadmap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7EEA"/>
                </a:solidFill>
              </a:defRPr>
            </a:pPr>
            <a:r>
              <a:t>MCP Server Extension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Expose all tools as MCP resources for broader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7EEA"/>
                </a:solidFill>
              </a:defRPr>
            </a:pPr>
            <a:r>
              <a:t>HITL Timeout &amp; Auto-Escalation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Auto-reject if human doesn't review within 5 minutes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7EEA"/>
                </a:solidFill>
              </a:defRPr>
            </a:pPr>
            <a:r>
              <a:t>HITL Notifications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Email/Slack alerts when HITL triggered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7EEA"/>
                </a:solidFill>
              </a:defRPr>
            </a:pPr>
            <a:r>
              <a:t>Analytics Dashboard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Track approval rates, review times, common ungrounded claims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7EEA"/>
                </a:solidFill>
              </a:defRPr>
            </a:pPr>
            <a:r>
              <a:t>Redis Session Persistence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>
                <a:solidFill>
                  <a:srgbClr val="1E1B4B"/>
                </a:solidFill>
              </a:defRPr>
            </a:pPr>
            <a:r>
              <a:t>Drop-in replacement for SQLite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8900000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3F4F6"/>
                </a:solidFill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D2FA"/>
                </a:solidFill>
              </a:defRPr>
            </a:pPr>
            <a:r>
              <a:t>Ready for your questions &amp;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